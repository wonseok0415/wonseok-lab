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5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822960"/>
            <a:ext cx="5212080" cy="5212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1691640"/>
            <a:ext cx="3474720" cy="347472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Real 운영팀  ·  2026. 07. 30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Field 자동 점검 시스템
</a:t>
            </a:r>
            <a:pPr indent="0" marL="0">
              <a:lnSpc>
                <a:spcPct val="115000"/>
              </a:lnSpc>
              <a:buNone/>
            </a:pPr>
            <a:r>
              <a:rPr lang="en-US" sz="370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FieldCheck 추진 계획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8580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EE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음성 허브(ThinQ ON) 서비스의 상시 모니터링과 장애 대응 체계 수립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" y="4434840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4348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수동 점검 + 구축·검증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977640" y="4434840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977640" y="4434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자동 점검 정식 운영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ATOM TTS 서버 장애가 남긴 것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6EBE7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25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B955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 오후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무응답 빈도 증가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발화 후 답변 실패 증가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(ATOM TTS 서버 장애 시작)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59936" y="1943100"/>
            <a:ext cx="237744" cy="0"/>
          </a:xfrm>
          <a:prstGeom prst="line">
            <a:avLst/>
          </a:prstGeom>
          <a:noFill/>
          <a:ln w="28575">
            <a:solidFill>
              <a:srgbClr val="B955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79976" y="1143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6EBE7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325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B9553F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325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 오전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08576" y="1709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불가 수준 저하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Real 시연 불가,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고객 가정에서도 동일 재현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891272" y="1943100"/>
            <a:ext cx="237744" cy="0"/>
          </a:xfrm>
          <a:prstGeom prst="line">
            <a:avLst/>
          </a:prstGeom>
          <a:noFill/>
          <a:ln w="28575">
            <a:solidFill>
              <a:srgbClr val="B955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11312" y="11430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9912" y="1325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3A5035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325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 12시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9912" y="1709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서버로 복구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9912" y="20756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CTO부문 LG TTS 대안 확보로 정상화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(시연은 MS TTS 버전으로 임시 대응)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5577840" cy="3063240"/>
          </a:xfrm>
          <a:prstGeom prst="roundRect">
            <a:avLst>
              <a:gd name="adj" fmla="val 2687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60273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35295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1248" y="4160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증상은 '발화 후 무응답'이었다.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말을 걸어 응답 유무만 확인해도 시연 불가 수준이 되기 반나절 전에 자동 감지가 가능했던 장애.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운영팀이 가장 활발한 사용자라 가장 먼저 발견하고 있으나, 감지 시점이 사람의 사용에 의존 — 상시·자동 감지 체계 필요.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0" y="3200400"/>
            <a:ext cx="5239512" cy="3063240"/>
          </a:xfrm>
          <a:prstGeom prst="roundRect">
            <a:avLst>
              <a:gd name="adj" fmla="val 2687"/>
            </a:avLst>
          </a:prstGeom>
          <a:solidFill>
            <a:srgbClr val="3A5035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72084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지시 사항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720840" y="39319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“단건 해결을 넘어, 음성을 포함한 ThinQ ON 서비스 운영을 체계적으로 모니터링하고 이슈·장애에 대응할 수 있는 운영 프로세스를 즉시 수립할 것”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72084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계획은 위 지시에 대한 실행안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 — 2단계(Phase)로 나누어 즉시 착수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43560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3A50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356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점검 즉시 가동 + 자동 점검 구축·검증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535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8803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아침 5분 체크리스트, 내일부터 가동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점검 항목 — 운영 공백 제로로 지시 사항에 즉시 대응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7490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67588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유휴 노트북으로 자동 점검 리그 구축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재생 → 응답 녹음 → 자동 판정 → 기록·알림 (3단계 구축)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5445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447141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수동·자동 병행 운영으로 신뢰성 검증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점검의 판정 일치율을 확인하며 시스템 완성도 확보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45352" y="114300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3A5035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565392" y="143560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6565392" y="14356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65392" y="1984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자동 점검 체계로 정식 운영 격상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9535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58584" y="28803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점검을 자동 점검으로 대체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0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운영자는 관리자 대시보드 확인만 — 점검의 무인화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74904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58584" y="367588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알림 체계 완성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0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성공률·응답 지연 추이·실패 상세 + 담당자 즉시 메일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54456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58584" y="447141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검토 및 사내 이관 대응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0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음성인식 처리 방식 확정, 사내 시스템 이관 시 연동 전환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전환 기준   </a:t>
            </a:r>
            <a:pPr indent="0" marL="0">
              <a:buNone/>
            </a:pPr>
            <a:r>
              <a:rPr lang="en-US" sz="130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점검과 자동 점검의 판정 결과가 일정 기간 일치함을 확인한 시점에 Phase 2로 전환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— 수동 일일 점검 (매일 아침 5분, 1회차 시연 전)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384048" cy="384048"/>
          </a:xfrm>
          <a:prstGeom prst="ellipse">
            <a:avLst/>
          </a:prstGeom>
          <a:solidFill>
            <a:srgbClr val="3A50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2435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기동어 응답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기동어 + 간단 질문 1개 — 3초 이내 응답 시작 확인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48256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31136"/>
            <a:ext cx="384048" cy="384048"/>
          </a:xfrm>
          <a:prstGeom prst="ellipse">
            <a:avLst/>
          </a:prstGeom>
          <a:solidFill>
            <a:srgbClr val="3A50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1031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대화 (순수)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서비스와 무관한 자유 질문 — 생성형 엔진 자체 점검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090672"/>
            <a:ext cx="384048" cy="384048"/>
          </a:xfrm>
          <a:prstGeom prst="ellipse">
            <a:avLst/>
          </a:prstGeom>
          <a:solidFill>
            <a:srgbClr val="3A503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96265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대화 (서비스 연계)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질문 — AccuWeather 연동 경로 점검, 원인 구분 진단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950208"/>
            <a:ext cx="384048" cy="384048"/>
          </a:xfrm>
          <a:prstGeom prst="ellipse">
            <a:avLst/>
          </a:prstGeom>
          <a:solidFill>
            <a:srgbClr val="3A50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8221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제어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음성으로 조명 켜기/끄기 — 실제 동작까지 확인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09744"/>
            <a:ext cx="384048" cy="384048"/>
          </a:xfrm>
          <a:prstGeom prst="ellipse">
            <a:avLst/>
          </a:prstGeom>
          <a:solidFill>
            <a:srgbClr val="3A503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6817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루틴 · 모드 실행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시나리오 중 자동화 루틴 1건 실행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989320" cy="749808"/>
          </a:xfrm>
          <a:prstGeom prst="roundRect">
            <a:avLst>
              <a:gd name="adj" fmla="val 10976"/>
            </a:avLst>
          </a:prstGeom>
          <a:solidFill>
            <a:srgbClr val="F6EBE7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669280"/>
            <a:ext cx="384048" cy="384048"/>
          </a:xfrm>
          <a:prstGeom prst="ellipse">
            <a:avLst/>
          </a:prstGeom>
          <a:solidFill>
            <a:srgbClr val="B9553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5412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음질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끊김·침묵·기계음 — 금번 TTS 장애를 잡는 항목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0" y="1188720"/>
            <a:ext cx="4782312" cy="2880360"/>
          </a:xfrm>
          <a:prstGeom prst="roundRect">
            <a:avLst>
              <a:gd name="adj" fmla="val 2857"/>
            </a:avLst>
          </a:prstGeom>
          <a:solidFill>
            <a:srgbClr val="3A5035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78040" y="1444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 시 6단계 대응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205472" y="19385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확인 — 몇 회 중 몇 회 실패인지 기록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7205472" y="22814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인지 시각 기록 (장애 타임라인 시작점)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7205472" y="26243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확인 — 특정 기능인지 전반 문제인지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7205472" y="29672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3인 공유 (증상·시각·재현율)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7205472" y="33101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조치 — 당일 시연용 우회 수단 확보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7205472" y="36530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BFD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</a:t>
            </a:r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조치·복구 시각까지 기록 완결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6858000" y="4251960"/>
            <a:ext cx="4782312" cy="2148840"/>
          </a:xfrm>
          <a:prstGeom prst="roundRect">
            <a:avLst>
              <a:gd name="adj" fmla="val 3830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7804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원칙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178040" y="4892040"/>
            <a:ext cx="4160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정상인 날도 반드시 1줄 기록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무기록과 정상을 구분해야 장애 이력 데이터가 됨
</a:t>
            </a:r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회차 30분 전 미니 체크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'아침 정상 → 오후 저하' 패턴(금번 사례) 대비, 기동어 응답만 30초 재확인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— 자동 점검 시스템 구성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93392" cy="1783080"/>
          </a:xfrm>
          <a:prstGeom prst="roundRect">
            <a:avLst>
              <a:gd name="adj" fmla="val 4615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280160"/>
            <a:ext cx="530352" cy="530352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1403604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8836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점검 발화</a:t>
            </a:r>
            <a:endParaRPr lang="en-US" sz="128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리그(노트북)가 저장된</a:t>
            </a:r>
            <a:endParaRPr lang="en-US" sz="9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음성을 재생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2587752" y="1988820"/>
            <a:ext cx="19202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25496" y="1097280"/>
            <a:ext cx="1993392" cy="1783080"/>
          </a:xfrm>
          <a:prstGeom prst="roundRect">
            <a:avLst>
              <a:gd name="adj" fmla="val 4615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280160"/>
            <a:ext cx="530352" cy="530352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4036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18836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응답 수집</a:t>
            </a:r>
            <a:endParaRPr lang="en-US" sz="1280" dirty="0"/>
          </a:p>
        </p:txBody>
      </p:sp>
      <p:sp>
        <p:nvSpPr>
          <p:cNvPr id="13" name="Text 9"/>
          <p:cNvSpPr/>
          <p:nvPr/>
        </p:nvSpPr>
        <p:spPr>
          <a:xfrm>
            <a:off x="2916936" y="219456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응답 녹음,</a:t>
            </a:r>
            <a:endParaRPr lang="en-US" sz="9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전·후 촬영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864608" y="1988820"/>
            <a:ext cx="19202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102352" y="1097280"/>
            <a:ext cx="1993392" cy="1783080"/>
          </a:xfrm>
          <a:prstGeom prst="roundRect">
            <a:avLst>
              <a:gd name="adj" fmla="val 4615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33872" y="1280160"/>
            <a:ext cx="530352" cy="530352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1403604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75504" y="18836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자동 판정</a:t>
            </a:r>
            <a:endParaRPr lang="en-US" sz="1280" dirty="0"/>
          </a:p>
        </p:txBody>
      </p:sp>
      <p:sp>
        <p:nvSpPr>
          <p:cNvPr id="19" name="Text 14"/>
          <p:cNvSpPr/>
          <p:nvPr/>
        </p:nvSpPr>
        <p:spPr>
          <a:xfrm>
            <a:off x="5193792" y="219456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 · L2 · L3</a:t>
            </a:r>
            <a:endParaRPr lang="en-US" sz="9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판정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7141464" y="1988820"/>
            <a:ext cx="19202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379208" y="1097280"/>
            <a:ext cx="1993392" cy="1783080"/>
          </a:xfrm>
          <a:prstGeom prst="roundRect">
            <a:avLst>
              <a:gd name="adj" fmla="val 4615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10728" y="1280160"/>
            <a:ext cx="530352" cy="530352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2" y="1403604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18836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기록</a:t>
            </a:r>
            <a:endParaRPr lang="en-US" sz="1280" dirty="0"/>
          </a:p>
        </p:txBody>
      </p:sp>
      <p:sp>
        <p:nvSpPr>
          <p:cNvPr id="25" name="Text 19"/>
          <p:cNvSpPr/>
          <p:nvPr/>
        </p:nvSpPr>
        <p:spPr>
          <a:xfrm>
            <a:off x="7470648" y="219456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예약 시스템 백엔드</a:t>
            </a:r>
            <a:endParaRPr lang="en-US" sz="9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(Apps Script+Sheets) 확장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9418320" y="1988820"/>
            <a:ext cx="19202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656064" y="1097280"/>
            <a:ext cx="1993392" cy="1783080"/>
          </a:xfrm>
          <a:prstGeom prst="roundRect">
            <a:avLst>
              <a:gd name="adj" fmla="val 4615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387584" y="1280160"/>
            <a:ext cx="530352" cy="530352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028" y="140360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29216" y="188366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알림 · 대시보드</a:t>
            </a:r>
            <a:endParaRPr lang="en-US" sz="1280" dirty="0"/>
          </a:p>
        </p:txBody>
      </p:sp>
      <p:sp>
        <p:nvSpPr>
          <p:cNvPr id="31" name="Text 24"/>
          <p:cNvSpPr/>
          <p:nvPr/>
        </p:nvSpPr>
        <p:spPr>
          <a:xfrm>
            <a:off x="9747504" y="2194560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담당자 즉시 메일,</a:t>
            </a:r>
            <a:endParaRPr lang="en-US" sz="9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 점검 탭</a:t>
            </a:r>
            <a:endParaRPr lang="en-US" sz="980" dirty="0"/>
          </a:p>
        </p:txBody>
      </p:sp>
      <p:sp>
        <p:nvSpPr>
          <p:cNvPr id="32" name="Shape 25"/>
          <p:cNvSpPr/>
          <p:nvPr/>
        </p:nvSpPr>
        <p:spPr>
          <a:xfrm>
            <a:off x="548640" y="3200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777240" y="3419856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B9553F"/>
          </a:solidFill>
          <a:ln/>
        </p:spPr>
      </p:sp>
      <p:sp>
        <p:nvSpPr>
          <p:cNvPr id="34" name="Text 27"/>
          <p:cNvSpPr/>
          <p:nvPr/>
        </p:nvSpPr>
        <p:spPr>
          <a:xfrm>
            <a:off x="777240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46304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점검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77724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유무 + 지연시간 측정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77240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30분~1시간 간격 · 금번 TTS 장애를 잡는 레벨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4315968" y="3200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44568" y="3419856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3A5035"/>
          </a:solidFill>
          <a:ln/>
        </p:spPr>
      </p:sp>
      <p:sp>
        <p:nvSpPr>
          <p:cNvPr id="40" name="Text 33"/>
          <p:cNvSpPr/>
          <p:nvPr/>
        </p:nvSpPr>
        <p:spPr>
          <a:xfrm>
            <a:off x="4544568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5230368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점검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4544568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→ 음성인식(STT) → 기대 키워드 대조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4544568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2~3회 정밀 점검 · 오응답/연동 이상 감지</a:t>
            </a:r>
            <a:endParaRPr lang="en-US" sz="1030" dirty="0"/>
          </a:p>
        </p:txBody>
      </p:sp>
      <p:sp>
        <p:nvSpPr>
          <p:cNvPr id="44" name="Shape 37"/>
          <p:cNvSpPr/>
          <p:nvPr/>
        </p:nvSpPr>
        <p:spPr>
          <a:xfrm>
            <a:off x="8083296" y="3200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311896" y="3419856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3A5035"/>
          </a:solidFill>
          <a:ln/>
        </p:spPr>
      </p:sp>
      <p:sp>
        <p:nvSpPr>
          <p:cNvPr id="46" name="Text 39"/>
          <p:cNvSpPr/>
          <p:nvPr/>
        </p:nvSpPr>
        <p:spPr>
          <a:xfrm>
            <a:off x="8311896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8997696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점검</a:t>
            </a:r>
            <a:endParaRPr lang="en-US" sz="1500" dirty="0"/>
          </a:p>
        </p:txBody>
      </p:sp>
      <p:sp>
        <p:nvSpPr>
          <p:cNvPr id="48" name="Text 41"/>
          <p:cNvSpPr/>
          <p:nvPr/>
        </p:nvSpPr>
        <p:spPr>
          <a:xfrm>
            <a:off x="8311896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제어 전·후 이미지 비교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8311896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점검 포함 · 실제 동작 여부까지 검증</a:t>
            </a:r>
            <a:endParaRPr lang="en-US" sz="1030" dirty="0"/>
          </a:p>
        </p:txBody>
      </p:sp>
      <p:sp>
        <p:nvSpPr>
          <p:cNvPr id="50" name="Shape 43"/>
          <p:cNvSpPr/>
          <p:nvPr/>
        </p:nvSpPr>
        <p:spPr>
          <a:xfrm>
            <a:off x="548640" y="5212080"/>
            <a:ext cx="6720840" cy="1188720"/>
          </a:xfrm>
          <a:prstGeom prst="roundRect">
            <a:avLst>
              <a:gd name="adj" fmla="val 6923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822960" y="5468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77840"/>
            <a:ext cx="292608" cy="29260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481328" y="534924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시스템 연동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슬롯 시간대 자동 회피 · 매일 07:30 전체 점검으로 '오늘 시연 가능' 확인 · 예약 회차 30분 전 사전 점검</a:t>
            </a:r>
            <a:endParaRPr lang="en-US" sz="1280" dirty="0"/>
          </a:p>
        </p:txBody>
      </p:sp>
      <p:sp>
        <p:nvSpPr>
          <p:cNvPr id="54" name="Shape 46"/>
          <p:cNvSpPr/>
          <p:nvPr/>
        </p:nvSpPr>
        <p:spPr>
          <a:xfrm>
            <a:off x="7498080" y="5212080"/>
            <a:ext cx="4142232" cy="1188720"/>
          </a:xfrm>
          <a:prstGeom prst="roundRect">
            <a:avLst>
              <a:gd name="adj" fmla="val 6923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7772400" y="5468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5577840"/>
            <a:ext cx="292608" cy="29260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430768" y="53492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이관 대비 설계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주소·인증·저장소를 설정으로 분리 — 이관 시 설정 교체만으로 전환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및 구축 로드맵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조기 감지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213055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장애가 시연·고객에 닿기 전에 시스템이 먼저 보고 — 매 시연 전 '오늘 시연 가능' 신호 확보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4315968" y="11430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0288" y="1417320"/>
            <a:ext cx="548640" cy="548640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453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 축적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08576" y="213055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성공률·응답 지연 추이를 상시 기록 — 공간 운영 목적인 '데이터 축적·고도화'와 직결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8083296" y="11430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EF2EA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57616" y="1417320"/>
            <a:ext cx="548640" cy="548640"/>
          </a:xfrm>
          <a:prstGeom prst="ellipse">
            <a:avLst/>
          </a:prstGeom>
          <a:solidFill>
            <a:srgbClr val="3A503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545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0848" y="14904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비용 구축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75904" y="213055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유휴 노트북 + 기존 예약 시스템 백엔드 재활용 — 신규 구매는 USB 웹캠 1대 수준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 (Phase 1 내)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42702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EF2EA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1단계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68096" y="47091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무응답 감지(L1)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68096" y="5111496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재생·녹음 + 응답 유무/지연 판정, 실패 시 메일 — 최소 기능으로 조기 가동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191256" y="5052060"/>
            <a:ext cx="14630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3374136" y="40690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93592" y="42702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EF2EA"/>
          </a:solidFill>
          <a:ln/>
        </p:spPr>
      </p:sp>
      <p:sp>
        <p:nvSpPr>
          <p:cNvPr id="27" name="Text 22"/>
          <p:cNvSpPr/>
          <p:nvPr/>
        </p:nvSpPr>
        <p:spPr>
          <a:xfrm>
            <a:off x="3593592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2단계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593592" y="47091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판정(L2)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3593592" y="5111496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음성인식 연동, 점검 문장 시트 관리, 예약 슬롯 자동 회피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016752" y="5052060"/>
            <a:ext cx="14630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199632" y="40690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4D8"/>
            </a:solidFill>
            <a:prstDash val="solid"/>
          </a:ln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19088" y="42702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EF2EA"/>
          </a:solidFill>
          <a:ln/>
        </p:spPr>
      </p:sp>
      <p:sp>
        <p:nvSpPr>
          <p:cNvPr id="33" name="Text 28"/>
          <p:cNvSpPr/>
          <p:nvPr/>
        </p:nvSpPr>
        <p:spPr>
          <a:xfrm>
            <a:off x="6419088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3단계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419088" y="47091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검증(L3)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6419088" y="5111496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웹캠 추가 — 가전 제어 전·후 촬영 비교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842248" y="5052060"/>
            <a:ext cx="146304" cy="0"/>
          </a:xfrm>
          <a:prstGeom prst="line">
            <a:avLst/>
          </a:prstGeom>
          <a:noFill/>
          <a:ln w="28575">
            <a:solidFill>
              <a:srgbClr val="5F7A56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9025128" y="40690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3A5035"/>
          </a:solidFill>
          <a:ln/>
          <a:effectLst>
            <a:outerShdw sx="100000" sy="100000" kx="0" ky="0" algn="bl" rotWithShape="0" blurRad="88900" dist="25400" dir="5400000">
              <a:srgbClr val="3A5035">
                <a:alpha val="14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244584" y="427024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4"/>
          <p:cNvSpPr/>
          <p:nvPr/>
        </p:nvSpPr>
        <p:spPr>
          <a:xfrm>
            <a:off x="9244584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50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검증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9244584" y="47091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전환</a:t>
            </a:r>
            <a:endParaRPr lang="en-US" sz="1450" dirty="0"/>
          </a:p>
        </p:txBody>
      </p:sp>
      <p:sp>
        <p:nvSpPr>
          <p:cNvPr id="41" name="Text 36"/>
          <p:cNvSpPr/>
          <p:nvPr/>
        </p:nvSpPr>
        <p:spPr>
          <a:xfrm>
            <a:off x="9244584" y="5111496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0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수동·자동 판정 일치율 확인 → 정식 운영 격상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2026-07-30T08:12:32Z</dcterms:created>
  <dcterms:modified xsi:type="dcterms:W3CDTF">2026-07-30T08:12:32Z</dcterms:modified>
</cp:coreProperties>
</file>